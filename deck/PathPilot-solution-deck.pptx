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Arial"/>
              </a:rPr>
              <a:t>Nudge click-through,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Click-through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Copy A (control)</c:v>
                  </c:pt>
                  <c:pt idx="1">
                    <c:v>Copy B (benefit-led)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12.1</c:v>
                </c:pt>
                <c:pt idx="1">
                  <c:v>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built the whole funnel, awareness to loan, and an AI growth loop that runs the marketing with no human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split is deliberate: a model never computes money or decides eligibility. That is what makes the loan side defensible to an NBFC.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PathPilot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PathPilot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SoFi for Indian students: from "where should I study?" to a funded loan application, in one AI-first product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Live prototype: student-engagement-ecosystem.vercel.app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journey, loan comes last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badge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Discover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country, which university, which course?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560320" y="137160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badge"/>
          <p:cNvSpPr/>
          <p:nvPr/>
        </p:nvSpPr>
        <p:spPr>
          <a:xfrm>
            <a:off x="26974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Will I get in? What will it really cost?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37160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badge"/>
          <p:cNvSpPr/>
          <p:nvPr/>
        </p:nvSpPr>
        <p:spPr>
          <a:xfrm>
            <a:off x="48006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Tests, SOPs, deadlines, visa interview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37160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badge"/>
          <p:cNvSpPr/>
          <p:nvPr/>
        </p:nvSpPr>
        <p:spPr>
          <a:xfrm>
            <a:off x="69037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Fund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Paperwork, co-applicant, collateral, EMIs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step lives in a different tool, so students drop off before funding, exactly when a lender needs them. Trust is built early or not at 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 for the whole funnel</a:t>
            </a:r>
            <a:endParaRPr lang="en-US" sz="2800" dirty="0"/>
          </a:p>
        </p:txBody>
      </p:sp>
      <p:sp>
        <p:nvSpPr>
          <p:cNvPr id="3" name="Funnel ban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Awareness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SEO guides written by a content agent</a:t>
            </a:r>
            <a:endParaRPr lang="en-US" sz="1500" dirty="0"/>
          </a:p>
        </p:txBody>
      </p:sp>
      <p:sp>
        <p:nvSpPr>
          <p:cNvPr id="5" name="Funnel band"/>
          <p:cNvSpPr/>
          <p:nvPr/>
        </p:nvSpPr>
        <p:spPr>
          <a:xfrm>
            <a:off x="960120" y="2057400"/>
            <a:ext cx="72237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057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Engagement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Navigator, admit odds, ROI, timeline, mentor</a:t>
            </a:r>
            <a:endParaRPr lang="en-US" sz="1500" dirty="0"/>
          </a:p>
        </p:txBody>
      </p:sp>
      <p:sp>
        <p:nvSpPr>
          <p:cNvPr id="7" name="Funnel band"/>
          <p:cNvSpPr/>
          <p:nvPr/>
        </p:nvSpPr>
        <p:spPr>
          <a:xfrm>
            <a:off x="1463040" y="2926080"/>
            <a:ext cx="62179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926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Trust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Sourced answers, SOP and visa coaching, privacy controls</a:t>
            </a:r>
            <a:endParaRPr lang="en-US" sz="1500" dirty="0"/>
          </a:p>
        </p:txBody>
      </p:sp>
      <p:sp>
        <p:nvSpPr>
          <p:cNvPr id="9" name="Funnel band"/>
          <p:cNvSpPr/>
          <p:nvPr/>
        </p:nvSpPr>
        <p:spPr>
          <a:xfrm>
            <a:off x="1965960" y="3794760"/>
            <a:ext cx="521208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Conversion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Loan planner, document copilot, lender tracker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One profile from a 2-minute quiz feeds every module, so each step makes the next one easier.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students get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🧭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Career Navigator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99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Ambitious, Target, Safe matches with cost and payback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Admit odds + ROI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299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What-if sliders, cost vs salary, India vs abroad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🗓️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Timeline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299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Dated plan from intake, deadlines, visa and loan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✍️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SOP reviewer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0299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Rubric score, fixes, honest rewrite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🛂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Visa interview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officer, spoken answers, readiness score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🧑‍🏫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Mentor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RAG with citations and live tools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💰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Loan planner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Soft check, offers, EMI, moratorium, 80E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📄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Loan copilot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8130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Reads documents, fills forms, tracks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decide money; the LLM explains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Loan eligibility, FOIR, offers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EMI, APR, Section 80E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ROI and timeline 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Unit-tested, auditable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3429000" y="13716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Admit model: monotonic gradient boosting, AUC 0.83 on unseen programs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Lead score: AUC 0.80, shows why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Trained on synthetic data, labelled as such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217920" y="1371600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Gemini first, Groq as fallback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Explains, converses, reviews, extracts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Reads PAN and income documents (vision)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Writes content from reviewed 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Free tiers, cached, always a non-AI fallback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an NBFC would underwrite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Co-applicant mandatory; income counted in FOIR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Secured vs unsecured limits, collateral cover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Approved-university tiers and country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Moratorium with simple interest, capitalised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Transparent APR including processing fee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Section 80E tax view (old regime)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Copilot flow</a:t>
            </a:r>
            <a:endParaRPr lang="en-US" sz="1600" dirty="0"/>
          </a:p>
        </p:txBody>
      </p:sp>
      <p:sp>
        <p:nvSpPr>
          <p:cNvPr id="6" name="Flow dot"/>
          <p:cNvSpPr/>
          <p:nvPr/>
        </p:nvSpPr>
        <p:spPr>
          <a:xfrm>
            <a:off x="4937760" y="17830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55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Soft check: no credit-score impact</a:t>
            </a:r>
            <a:endParaRPr lang="en-US" sz="1250" dirty="0"/>
          </a:p>
        </p:txBody>
      </p:sp>
      <p:sp>
        <p:nvSpPr>
          <p:cNvPr id="9" name="Flow dot"/>
          <p:cNvSpPr/>
          <p:nvPr/>
        </p:nvSpPr>
        <p:spPr>
          <a:xfrm>
            <a:off x="4937760" y="22128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854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Upload PAN, Aadhaar, income proof: vision reads them</a:t>
            </a:r>
            <a:endParaRPr lang="en-US" sz="1250" dirty="0"/>
          </a:p>
        </p:txBody>
      </p:sp>
      <p:sp>
        <p:nvSpPr>
          <p:cNvPr id="12" name="Flow dot"/>
          <p:cNvSpPr/>
          <p:nvPr/>
        </p:nvSpPr>
        <p:spPr>
          <a:xfrm>
            <a:off x="4937760" y="26426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615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Cross-checks: PAN format, name, income vs slip</a:t>
            </a:r>
            <a:endParaRPr lang="en-US" sz="1250" dirty="0"/>
          </a:p>
        </p:txBody>
      </p:sp>
      <p:sp>
        <p:nvSpPr>
          <p:cNvPr id="15" name="Flow dot"/>
          <p:cNvSpPr/>
          <p:nvPr/>
        </p:nvSpPr>
        <p:spPr>
          <a:xfrm>
            <a:off x="4937760" y="307238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Three consents: KYC, bureau, DPDP</a:t>
            </a:r>
            <a:endParaRPr lang="en-US" sz="1250" dirty="0"/>
          </a:p>
        </p:txBody>
      </p:sp>
      <p:sp>
        <p:nvSpPr>
          <p:cNvPr id="18" name="Flow dot"/>
          <p:cNvSpPr/>
          <p:nvPr/>
        </p:nvSpPr>
        <p:spPr>
          <a:xfrm>
            <a:off x="4937760" y="35021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Mock bureau and lender system: live tracker</a:t>
            </a:r>
            <a:endParaRPr lang="en-US" sz="1250" dirty="0"/>
          </a:p>
        </p:txBody>
      </p:sp>
      <p:sp>
        <p:nvSpPr>
          <p:cNvPr id="21" name="Flow dot"/>
          <p:cNvSpPr/>
          <p:nvPr/>
        </p:nvSpPr>
        <p:spPr>
          <a:xfrm>
            <a:off x="4937760" y="3931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Final approval shown as human credit review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Stickiness without gimmicks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Next best action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 to 3 nudges ranked by funnel value; loan steps first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XP, levels, streaks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 levels, daily streak, 15 badges earned from real actions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Invites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+50 XP for the friend, +100 for you when they finish the quiz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card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Opt-in public study card with a link preview for WhatsApp and LinkedIn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Journey stage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Explorer to Funding, derived from behaviour, never set by hand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Discover feed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Guides ranked by interests, stage and freshness, with the reason shown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zero-human growth loop</a:t>
            </a:r>
            <a:endParaRPr lang="en-US" sz="2800" dirty="0"/>
          </a:p>
        </p:txBody>
      </p:sp>
      <p:sp>
        <p:nvSpPr>
          <p:cNvPr id="3" name="Loop step"/>
          <p:cNvSpPr/>
          <p:nvPr/>
        </p:nvSpPr>
        <p:spPr>
          <a:xfrm>
            <a:off x="457200" y="12801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 Simulate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synthetic cohort acts</a:t>
            </a:r>
            <a:endParaRPr lang="en-US" sz="1400" dirty="0"/>
          </a:p>
        </p:txBody>
      </p:sp>
      <p:sp>
        <p:nvSpPr>
          <p:cNvPr id="6" name="Loop step"/>
          <p:cNvSpPr/>
          <p:nvPr/>
        </p:nvSpPr>
        <p:spPr>
          <a:xfrm>
            <a:off x="3246120" y="12801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 Learn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A/B results, hot topics</a:t>
            </a:r>
            <a:endParaRPr lang="en-US" sz="1400" dirty="0"/>
          </a:p>
        </p:txBody>
      </p:sp>
      <p:sp>
        <p:nvSpPr>
          <p:cNvPr id="9" name="Loop step"/>
          <p:cNvSpPr/>
          <p:nvPr/>
        </p:nvSpPr>
        <p:spPr>
          <a:xfrm>
            <a:off x="6035040" y="12801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Acquire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content agent publishes</a:t>
            </a:r>
            <a:endParaRPr lang="en-US" sz="1400" dirty="0"/>
          </a:p>
        </p:txBody>
      </p:sp>
      <p:sp>
        <p:nvSpPr>
          <p:cNvPr id="12" name="Loop step"/>
          <p:cNvSpPr/>
          <p:nvPr/>
        </p:nvSpPr>
        <p:spPr>
          <a:xfrm>
            <a:off x="457200" y="26517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  Nurture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A/B nudges, mock WhatsApp/email</a:t>
            </a:r>
            <a:endParaRPr lang="en-US" sz="1400" dirty="0"/>
          </a:p>
        </p:txBody>
      </p:sp>
      <p:sp>
        <p:nvSpPr>
          <p:cNvPr id="15" name="Loop step"/>
          <p:cNvSpPr/>
          <p:nvPr/>
        </p:nvSpPr>
        <p:spPr>
          <a:xfrm>
            <a:off x="3246120" y="26517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  Convert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lead score triggers loan copilot</a:t>
            </a:r>
            <a:endParaRPr lang="en-US" sz="1400" dirty="0"/>
          </a:p>
        </p:txBody>
      </p:sp>
      <p:sp>
        <p:nvSpPr>
          <p:cNvPr id="18" name="Loop step"/>
          <p:cNvSpPr/>
          <p:nvPr/>
        </p:nvSpPr>
        <p:spPr>
          <a:xfrm>
            <a:off x="6035040" y="265176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  Measure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funnel snapshot, run log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</a:rPr>
              <a:t>Runs daily on a schedule. Every decision is logged and visible in the admin Agent Console.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loop learn? A simulated test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300 simulated students, 30 days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4592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 planted a 40% lift for copy B in the simulator.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A/B step recovered +48% (z = 2.5, significant at 95%) and now serves B to about 80% of students.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Lead scores flagged the students most likely to apply; the top decile converts about 5x the average.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Simulated data validates the machinery, not real-world performance. Real testers come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deployment</a:t>
            </a:r>
            <a:endParaRPr lang="en-US" sz="2800" dirty="0"/>
          </a:p>
        </p:txBody>
      </p:sp>
      <p:sp>
        <p:nvSpPr>
          <p:cNvPr id="3" name="Layer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ayer marker"/>
          <p:cNvSpPr/>
          <p:nvPr/>
        </p:nvSpPr>
        <p:spPr>
          <a:xfrm>
            <a:off x="640080" y="1389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Vercel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Next.js 15, TypeScript, Tailwind, Recharts</a:t>
            </a:r>
            <a:endParaRPr lang="en-US" sz="1300" dirty="0"/>
          </a:p>
        </p:txBody>
      </p:sp>
      <p:sp>
        <p:nvSpPr>
          <p:cNvPr id="7" name="Layer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ayer marker"/>
          <p:cNvSpPr/>
          <p:nvPr/>
        </p:nvSpPr>
        <p:spPr>
          <a:xfrm>
            <a:off x="640080" y="225856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Render (Docker, single instance)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FastAPI, SQLModel, Alembic, APScheduler, scikit-learn models</a:t>
            </a:r>
            <a:endParaRPr lang="en-US" sz="1300" dirty="0"/>
          </a:p>
        </p:txBody>
      </p:sp>
      <p:sp>
        <p:nvSpPr>
          <p:cNvPr id="11" name="Layer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ayer marker"/>
          <p:cNvSpPr/>
          <p:nvPr/>
        </p:nvSpPr>
        <p:spPr>
          <a:xfrm>
            <a:off x="640080" y="31272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 with RLS on every table, Auth, private Storage</a:t>
            </a:r>
            <a:endParaRPr lang="en-US" sz="1300" dirty="0"/>
          </a:p>
        </p:txBody>
      </p:sp>
      <p:sp>
        <p:nvSpPr>
          <p:cNvPr id="15" name="Layer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ayer marker"/>
          <p:cNvSpPr/>
          <p:nvPr/>
        </p:nvSpPr>
        <p:spPr>
          <a:xfrm>
            <a:off x="640080" y="399592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LLMs, free tiers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Gemini then Groq, per-user and global caps, cached, always a fallback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Push to GitHub deploys both sides; migrations run on start. 127 automated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safety by design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Simulated finance, labelled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27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lender, score and decision is fictional and says so on every page.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Privacy and DPDP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27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Three consents, Aadhaar last 4 only, files private with 5-minute links and 30-day deletion.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5720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Data rights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24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Download everything or delete the account and all data in one click.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66344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Isolation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24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query is scoped to the verified user; three-account tests check every by-id route.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5720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Abuse control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21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Rate limits, per-user and global AI caps, and an admin pause switch.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33375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Honest AI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7216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Sources cited, quotes verified, rewrites may not invent facts, non-AI fallbacks.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earns, and why lenders care</a:t>
            </a:r>
            <a:endParaRPr lang="en-US" sz="2800" dirty="0"/>
          </a:p>
        </p:txBody>
      </p:sp>
      <p:sp>
        <p:nvSpPr>
          <p:cNvPr id="3" name="Revenue marker"/>
          <p:cNvSpPr/>
          <p:nvPr/>
        </p:nvSpPr>
        <p:spPr>
          <a:xfrm>
            <a:off x="457200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Qualified loan leads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188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Lenders pay per sanctioned lead or DSA commission; students arrive pre-checked, documented and consented.</a:t>
            </a:r>
            <a:endParaRPr lang="en-US" sz="1350" dirty="0"/>
          </a:p>
        </p:txBody>
      </p:sp>
      <p:sp>
        <p:nvSpPr>
          <p:cNvPr id="7" name="Revenue marker"/>
          <p:cNvSpPr/>
          <p:nvPr/>
        </p:nvSpPr>
        <p:spPr>
          <a:xfrm>
            <a:off x="457200" y="21214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11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Lower acquisition cost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SEO guides and referrals bring students in; the loop nurtures them with no sales team.</a:t>
            </a:r>
            <a:endParaRPr lang="en-US" sz="1350" dirty="0"/>
          </a:p>
        </p:txBody>
      </p:sp>
      <p:sp>
        <p:nvSpPr>
          <p:cNvPr id="11" name="Revenue marker"/>
          <p:cNvSpPr/>
          <p:nvPr/>
        </p:nvSpPr>
        <p:spPr>
          <a:xfrm>
            <a:off x="457200" y="29443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34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Cross-sell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Forex, insurance, accommodation, SIM and travel at the point of need.</a:t>
            </a:r>
            <a:endParaRPr lang="en-US" sz="1350" dirty="0"/>
          </a:p>
        </p:txBody>
      </p:sp>
      <p:sp>
        <p:nvSpPr>
          <p:cNvPr id="15" name="Revenue marker"/>
          <p:cNvSpPr/>
          <p:nvPr/>
        </p:nvSpPr>
        <p:spPr>
          <a:xfrm>
            <a:off x="457200" y="376732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Premium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Human counselling and priority SOP review for students who want it.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Unit economics to be validated with real conversions; none are claimed 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</a:rPr>
              <a:t>Pilot with an NBFC sandbox: real lender products, bureau and LOS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</a:rPr>
              <a:t>Retrain admit and lead models on real outcomes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</a:rPr>
              <a:t>WhatsApp Business API and email through approved providers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0E7FF"/>
                </a:solidFill>
              </a:rPr>
              <a:t>Regional-language support and counsellor handoff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Try it: student-engagement-ecosystem.vercel.app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Pilot">
  <a:themeElements>
    <a:clrScheme name="PathPilot">
      <a:dk1>
        <a:srgbClr val="1B1F3B"/>
      </a:dk1>
      <a:lt1>
        <a:srgbClr val="FFFFFF"/>
      </a:lt1>
      <a:dk2>
        <a:srgbClr val="2A2F6B"/>
      </a:dk2>
      <a:lt2>
        <a:srgbClr val="EEF0FB"/>
      </a:lt2>
      <a:accent1>
        <a:srgbClr val="4F46E5"/>
      </a:accent1>
      <a:accent2>
        <a:srgbClr val="D97706"/>
      </a:accent2>
      <a:accent3>
        <a:srgbClr val="047857"/>
      </a:accent3>
      <a:accent4>
        <a:srgbClr val="EF4444"/>
      </a:accent4>
      <a:accent5>
        <a:srgbClr val="6366F1"/>
      </a:accent5>
      <a:accent6>
        <a:srgbClr val="64748B"/>
      </a:accent6>
      <a:hlink>
        <a:srgbClr val="4F46E5"/>
      </a:hlink>
      <a:folHlink>
        <a:srgbClr val="6D28D9"/>
      </a:folHlink>
    </a:clrScheme>
    <a:fontScheme name="PathPi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PathPilot: solution deck</dc:title>
  <dc:subject>PptxGenJS Presentation</dc:subject>
  <dc:creator>PptxGenJS</dc:creator>
  <cp:lastModifiedBy>PptxGenJS</cp:lastModifiedBy>
  <cp:revision>1</cp:revision>
  <dcterms:created xsi:type="dcterms:W3CDTF">2026-10-23T19:10:45Z</dcterms:created>
  <dcterms:modified xsi:type="dcterms:W3CDTF">2026-10-23T19:10:45Z</dcterms:modified>
</cp:coreProperties>
</file>